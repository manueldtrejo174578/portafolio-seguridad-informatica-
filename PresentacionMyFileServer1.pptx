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914400" y="1463040"/>
            <a:ext cx="10332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Resultados del Assessment de Seguridad Ofensiva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14400" y="2834640"/>
            <a:ext cx="10332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BFCDE0"/>
                </a:solidFill>
                <a:latin typeface="Calibri"/>
                <a:ea typeface="Calibri"/>
                <a:cs typeface="Calibri"/>
                <a:sym typeface="Calibri"/>
              </a:rPr>
              <a:t>Servidor de Archivos Corporativo — “My File Server: 1”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14400" y="4846320"/>
            <a:ext cx="10332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BFCDE0"/>
                </a:solidFill>
                <a:latin typeface="Calibri"/>
                <a:ea typeface="Calibri"/>
                <a:cs typeface="Calibri"/>
                <a:sym typeface="Calibri"/>
              </a:rPr>
              <a:t>Presentación ejecutiva para el Consejo Directivo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BFCDE0"/>
                </a:solidFill>
                <a:latin typeface="Calibri"/>
                <a:ea typeface="Calibri"/>
                <a:cs typeface="Calibri"/>
                <a:sym typeface="Calibri"/>
              </a:rPr>
              <a:t>Trejo Salazar Manuel Darío</a:t>
            </a:r>
            <a:r>
              <a:rPr b="0" i="0" lang="en-US" sz="1600" u="none" cap="none" strike="noStrike">
                <a:solidFill>
                  <a:srgbClr val="BFCDE0"/>
                </a:solidFill>
                <a:latin typeface="Calibri"/>
                <a:ea typeface="Calibri"/>
                <a:cs typeface="Calibri"/>
                <a:sym typeface="Calibri"/>
              </a:rPr>
              <a:t> — Analista Red Team   |  </a:t>
            </a:r>
            <a:r>
              <a:rPr lang="en-US" sz="1600">
                <a:solidFill>
                  <a:srgbClr val="BFCDE0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r>
              <a:rPr b="0" i="0" lang="en-US" sz="1600" u="none" cap="none" strike="noStrike">
                <a:solidFill>
                  <a:srgbClr val="BFCDE0"/>
                </a:solidFill>
                <a:latin typeface="Calibri"/>
                <a:ea typeface="Calibri"/>
                <a:cs typeface="Calibri"/>
                <a:sym typeface="Calibri"/>
              </a:rPr>
              <a:t> de septiembre de 2026   |   Versión 1.0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Contexto del Engagement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1155680" y="22860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457200" y="6473952"/>
            <a:ext cx="11338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CONFIDENCIAL — Pruebas de Penetración My File Server: 1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48640" y="114300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3B63"/>
                </a:solidFill>
                <a:latin typeface="Calibri"/>
                <a:ea typeface="Calibri"/>
                <a:cs typeface="Calibri"/>
                <a:sym typeface="Calibri"/>
              </a:rPr>
              <a:t>¿Por qué se realizó esta evaluación?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48640" y="1691640"/>
            <a:ext cx="6583680" cy="12344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685800" y="1764792"/>
            <a:ext cx="6309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3B63"/>
                </a:solidFill>
                <a:latin typeface="Calibri"/>
                <a:ea typeface="Calibri"/>
                <a:cs typeface="Calibri"/>
                <a:sym typeface="Calibri"/>
              </a:rPr>
              <a:t>▪  Mandato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85800" y="2258568"/>
            <a:ext cx="6309360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 contrató al equipo Red Team para evaluar la exposición real del servidor de archivos, simulando el comportamiento de un atacante externo.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48640" y="3063240"/>
            <a:ext cx="6583680" cy="12344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85800" y="3136392"/>
            <a:ext cx="6309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3B63"/>
                </a:solidFill>
                <a:latin typeface="Calibri"/>
                <a:ea typeface="Calibri"/>
                <a:cs typeface="Calibri"/>
                <a:sym typeface="Calibri"/>
              </a:rPr>
              <a:t>▪  Alcance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85800" y="3630168"/>
            <a:ext cx="6309360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 servidor de archivos (My File Server: 1, 192.168.153.128) en laboratorio aislado; 8 puertos y 3 protocolos de transferencia de archivos expuestos.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48640" y="4434840"/>
            <a:ext cx="6583680" cy="12344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685800" y="4507992"/>
            <a:ext cx="6309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3B63"/>
                </a:solidFill>
                <a:latin typeface="Calibri"/>
                <a:ea typeface="Calibri"/>
                <a:cs typeface="Calibri"/>
                <a:sym typeface="Calibri"/>
              </a:rPr>
              <a:t>▪  Enfoque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85800" y="5001768"/>
            <a:ext cx="6309360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Explotación real — no una auditoría de papeles: se intentó entrar como lo haría un cibercriminal.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7498079" y="1691640"/>
            <a:ext cx="4114800" cy="3977639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7726679" y="1920240"/>
            <a:ext cx="36576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pregunta del consejo: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“Si un atacante intentara robar o bloquear nuestra información hoy… ¿lo lograría, y qué tan rápido?”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Respuesta: SÍ. El servidor fue comprometido por completo en una sola sesión.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Metodología Aplicada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1155680" y="22860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57200" y="6473952"/>
            <a:ext cx="11338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CONFIDENCIAL — Pruebas de Penetración My File Server: 1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Un proceso probado y estandarizado de la industria — PTES / OSSTMM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411480" y="1828800"/>
            <a:ext cx="2212848" cy="3017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548640" y="1901952"/>
            <a:ext cx="19385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3B63"/>
                </a:solidFill>
                <a:latin typeface="Calibri"/>
                <a:ea typeface="Calibri"/>
                <a:cs typeface="Calibri"/>
                <a:sym typeface="Calibri"/>
              </a:rPr>
              <a:t>1. Reconocimiento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548640" y="2395728"/>
            <a:ext cx="1938528" cy="2359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Descubrimiento de hosts, puertos, servicios y versiones (arp-scan, netdiscover, nmap).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2715768" y="1828800"/>
            <a:ext cx="2212848" cy="3017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2852928" y="1901952"/>
            <a:ext cx="19385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3B63"/>
                </a:solidFill>
                <a:latin typeface="Calibri"/>
                <a:ea typeface="Calibri"/>
                <a:cs typeface="Calibri"/>
                <a:sym typeface="Calibri"/>
              </a:rPr>
              <a:t>2. Enumeración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2852928" y="2395728"/>
            <a:ext cx="1938528" cy="2359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Búsqueda de usuarios, recursos compartidos y archivos expuestos (smbmap, nikto).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020056" y="1828800"/>
            <a:ext cx="2212848" cy="3017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5157216" y="1901952"/>
            <a:ext cx="19385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3B63"/>
                </a:solidFill>
                <a:latin typeface="Calibri"/>
                <a:ea typeface="Calibri"/>
                <a:cs typeface="Calibri"/>
                <a:sym typeface="Calibri"/>
              </a:rPr>
              <a:t>3. Explotación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5157216" y="2395728"/>
            <a:ext cx="1938528" cy="2359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Uso de credenciales expuestas e inyección de clave SSH para entrar al sistema.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7324344" y="1828800"/>
            <a:ext cx="2212848" cy="3017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7461504" y="1901952"/>
            <a:ext cx="19385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3B63"/>
                </a:solidFill>
                <a:latin typeface="Calibri"/>
                <a:ea typeface="Calibri"/>
                <a:cs typeface="Calibri"/>
                <a:sym typeface="Calibri"/>
              </a:rPr>
              <a:t>4. Escalada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7461504" y="2395728"/>
            <a:ext cx="1938528" cy="2359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Explotación de kernel sin parchear para obtener control total (root).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9628632" y="1828800"/>
            <a:ext cx="2212848" cy="30175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9765792" y="1901952"/>
            <a:ext cx="19385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3B63"/>
                </a:solidFill>
                <a:latin typeface="Calibri"/>
                <a:ea typeface="Calibri"/>
                <a:cs typeface="Calibri"/>
                <a:sym typeface="Calibri"/>
              </a:rPr>
              <a:t>5. Análisis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9765792" y="2395728"/>
            <a:ext cx="1938528" cy="2359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Evaluación de impacto (modelo CIA), cuantificación del riesgo y recomendaciones.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548640" y="525780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Toda evidencia documentada con comandos, salidas y capturas verificables.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Nivel General del Riesgo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11155680" y="22860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457200" y="6473952"/>
            <a:ext cx="11338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CONFIDENCIAL — Pruebas de Penetración My File Server: 1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640080" y="1463040"/>
            <a:ext cx="4206240" cy="4023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640080" y="2103120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CRÍTICO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40080" y="3200400"/>
            <a:ext cx="4206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9.8 / 10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40080" y="3931920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(CVSS v3.1 — cadena de ataque)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40080" y="4709160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Compromiso total del servidor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5212080" y="1463040"/>
            <a:ext cx="6309360" cy="12344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5349240" y="1536192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▪  2 críticos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5349240" y="2029968"/>
            <a:ext cx="6035040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Credenciales expuestas públicamente y kernel vulnerable a escalada de privilegios.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5212080" y="2834640"/>
            <a:ext cx="6309360" cy="12344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5349240" y="2907792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7D0D"/>
                </a:solidFill>
                <a:latin typeface="Calibri"/>
                <a:ea typeface="Calibri"/>
                <a:cs typeface="Calibri"/>
                <a:sym typeface="Calibri"/>
              </a:rPr>
              <a:t>▪  2 altos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5349240" y="3401568"/>
            <a:ext cx="6035040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FTP anónimo con escritura y recurso SMB abierto sin autenticación.</a:t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5212080" y="4206240"/>
            <a:ext cx="6309360" cy="12344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5349240" y="4279392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88A00"/>
                </a:solidFill>
                <a:latin typeface="Calibri"/>
                <a:ea typeface="Calibri"/>
                <a:cs typeface="Calibri"/>
                <a:sym typeface="Calibri"/>
              </a:rPr>
              <a:t>▪  3 medios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5349240" y="4773168"/>
            <a:ext cx="6035040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Segundo FTP anónimo, Apache desactualizado y NFS expuesto.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Hallazgos Críticos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11155680" y="22860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457200" y="6473952"/>
            <a:ext cx="11338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CONFIDENCIAL — Pruebas de Penetración My File Server: 1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Las tres puertas que abrieron el sistema</a:t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548640" y="1600200"/>
            <a:ext cx="3566160" cy="35661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685800" y="1673352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3B63"/>
                </a:solidFill>
                <a:latin typeface="Calibri"/>
                <a:ea typeface="Calibri"/>
                <a:cs typeface="Calibri"/>
                <a:sym typeface="Calibri"/>
              </a:rPr>
              <a:t>H-01 · Credenciales al descubierto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85800" y="2167128"/>
            <a:ext cx="3291840" cy="2907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La contraseña del servidor (rootroot1) estaba escrita en texto plano en una página pública (readme.txt), junto al nombre de usuario revelado por el servicio SMB.</a:t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4297680" y="1600200"/>
            <a:ext cx="3566160" cy="35661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4434840" y="1673352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3B63"/>
                </a:solidFill>
                <a:latin typeface="Calibri"/>
                <a:ea typeface="Calibri"/>
                <a:cs typeface="Calibri"/>
                <a:sym typeface="Calibri"/>
              </a:rPr>
              <a:t>H-02 · Servicios con acceso libre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4434840" y="2167128"/>
            <a:ext cx="3291840" cy="2907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FTP y SMB permitían entrar sin credenciales, con permisos de escritura. El atacante inyectó su propia llave SSH y entró como usuario legítimo.</a:t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8046720" y="1600200"/>
            <a:ext cx="3566160" cy="35661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8183880" y="1673352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3B63"/>
                </a:solidFill>
                <a:latin typeface="Calibri"/>
                <a:ea typeface="Calibri"/>
                <a:cs typeface="Calibri"/>
                <a:sym typeface="Calibri"/>
              </a:rPr>
              <a:t>H-05 · Sistema sin parchear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8183880" y="2167128"/>
            <a:ext cx="3291840" cy="2907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El kernel (2015) tiene una vulnerabilidad pública conocida (Dirty COW, CVE-2016-5195). Con un exploit descargable de Internet se obtuvo control total (root).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548640" y="544068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Ninguno de estos vectores requiere habilidades avanzadas: herramientas públicas y credenciales a la vista.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Escenario de Impacto Empresarial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11155680" y="22860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457200" y="6473952"/>
            <a:ext cx="11338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CONFIDENCIAL — Pruebas de Penetración My File Server: 1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¿Qué significa esto para el negocio?</a:t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548640" y="1645920"/>
            <a:ext cx="5303520" cy="1920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685800" y="1719072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3B63"/>
                </a:solidFill>
                <a:latin typeface="Calibri"/>
                <a:ea typeface="Calibri"/>
                <a:cs typeface="Calibri"/>
                <a:sym typeface="Calibri"/>
              </a:rPr>
              <a:t>Robo de información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685800" y="2212848"/>
            <a:ext cx="502920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Todo archivo del servidor es legible: contratos, datos de clientes, finanzas, propiedad intelectual.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Confidencialidad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4617719" y="3182112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F3B63"/>
                </a:solidFill>
                <a:latin typeface="Calibri"/>
                <a:ea typeface="Calibri"/>
                <a:cs typeface="Calibri"/>
                <a:sym typeface="Calibri"/>
              </a:rPr>
              <a:t>Confidencialidad</a:t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6309360" y="1645920"/>
            <a:ext cx="5303520" cy="1920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6446520" y="1719072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3B63"/>
                </a:solidFill>
                <a:latin typeface="Calibri"/>
                <a:ea typeface="Calibri"/>
                <a:cs typeface="Calibri"/>
                <a:sym typeface="Calibri"/>
              </a:rPr>
              <a:t>Manipulación de datos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6446520" y="2212848"/>
            <a:ext cx="502920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El atacante puede alterar o borrar documentos, o instalar software oculto (puertas traseras).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Integridad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10378440" y="3182112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F3B63"/>
                </a:solidFill>
                <a:latin typeface="Calibri"/>
                <a:ea typeface="Calibri"/>
                <a:cs typeface="Calibri"/>
                <a:sym typeface="Calibri"/>
              </a:rPr>
              <a:t>Integridad</a:t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548640" y="3840480"/>
            <a:ext cx="5303520" cy="1920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685800" y="3913632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3B63"/>
                </a:solidFill>
                <a:latin typeface="Calibri"/>
                <a:ea typeface="Calibri"/>
                <a:cs typeface="Calibri"/>
                <a:sym typeface="Calibri"/>
              </a:rPr>
              <a:t>Bloqueo del servicio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685800" y="4407408"/>
            <a:ext cx="502920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Control total permite cifrar o destruir la información — escenario tipo ransomware.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Disponibilidad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4617719" y="5376672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F3B63"/>
                </a:solidFill>
                <a:latin typeface="Calibri"/>
                <a:ea typeface="Calibri"/>
                <a:cs typeface="Calibri"/>
                <a:sym typeface="Calibri"/>
              </a:rPr>
              <a:t>Disponibilidad</a:t>
            </a:r>
            <a:endParaRPr/>
          </a:p>
        </p:txBody>
      </p:sp>
      <p:sp>
        <p:nvSpPr>
          <p:cNvPr id="196" name="Google Shape;196;p18"/>
          <p:cNvSpPr/>
          <p:nvPr/>
        </p:nvSpPr>
        <p:spPr>
          <a:xfrm>
            <a:off x="6309360" y="3840480"/>
            <a:ext cx="5303520" cy="1920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6446520" y="3913632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Daño reputacional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6446520" y="4407408"/>
            <a:ext cx="502920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Una filtración notificable a clientes y reguladores erosiona la confianza y puede generar sanciones.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Negocio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10378440" y="5376672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Negocio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Matriz de Riesgo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11155680" y="22860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457200" y="6473952"/>
            <a:ext cx="11338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CONFIDENCIAL — Pruebas de Penetración My File Server: 1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548640" y="105156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Probabilidad × Impacto de los 7 hallazgos</a:t>
            </a: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1920240" y="5010912"/>
            <a:ext cx="841248" cy="84124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1920240" y="5212080"/>
            <a:ext cx="8412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1920240" y="4169664"/>
            <a:ext cx="841248" cy="84124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 txBox="1"/>
          <p:nvPr/>
        </p:nvSpPr>
        <p:spPr>
          <a:xfrm>
            <a:off x="1920240" y="4370832"/>
            <a:ext cx="8412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1920240" y="3328416"/>
            <a:ext cx="841248" cy="84124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 txBox="1"/>
          <p:nvPr/>
        </p:nvSpPr>
        <p:spPr>
          <a:xfrm>
            <a:off x="1920240" y="3529584"/>
            <a:ext cx="8412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1920240" y="2487168"/>
            <a:ext cx="841248" cy="84124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 txBox="1"/>
          <p:nvPr/>
        </p:nvSpPr>
        <p:spPr>
          <a:xfrm>
            <a:off x="1920240" y="2688336"/>
            <a:ext cx="8412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1920240" y="1645920"/>
            <a:ext cx="841248" cy="841248"/>
          </a:xfrm>
          <a:prstGeom prst="rect">
            <a:avLst/>
          </a:prstGeom>
          <a:solidFill>
            <a:srgbClr val="F2C5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 txBox="1"/>
          <p:nvPr/>
        </p:nvSpPr>
        <p:spPr>
          <a:xfrm>
            <a:off x="1920240" y="1847088"/>
            <a:ext cx="8412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2761488" y="5010912"/>
            <a:ext cx="841248" cy="84124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 txBox="1"/>
          <p:nvPr/>
        </p:nvSpPr>
        <p:spPr>
          <a:xfrm>
            <a:off x="2761488" y="5212080"/>
            <a:ext cx="8412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2761488" y="4169664"/>
            <a:ext cx="841248" cy="84124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 txBox="1"/>
          <p:nvPr/>
        </p:nvSpPr>
        <p:spPr>
          <a:xfrm>
            <a:off x="2761488" y="4370832"/>
            <a:ext cx="8412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2761488" y="3328416"/>
            <a:ext cx="841248" cy="841248"/>
          </a:xfrm>
          <a:prstGeom prst="rect">
            <a:avLst/>
          </a:prstGeom>
          <a:solidFill>
            <a:srgbClr val="F2C5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 txBox="1"/>
          <p:nvPr/>
        </p:nvSpPr>
        <p:spPr>
          <a:xfrm>
            <a:off x="2761488" y="3529584"/>
            <a:ext cx="8412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2761488" y="2487168"/>
            <a:ext cx="841248" cy="841248"/>
          </a:xfrm>
          <a:prstGeom prst="rect">
            <a:avLst/>
          </a:prstGeom>
          <a:solidFill>
            <a:srgbClr val="F2C5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 txBox="1"/>
          <p:nvPr/>
        </p:nvSpPr>
        <p:spPr>
          <a:xfrm>
            <a:off x="2761488" y="2688336"/>
            <a:ext cx="8412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2761488" y="1645920"/>
            <a:ext cx="841248" cy="841248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 txBox="1"/>
          <p:nvPr/>
        </p:nvSpPr>
        <p:spPr>
          <a:xfrm>
            <a:off x="2761488" y="1847088"/>
            <a:ext cx="8412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3602736" y="5010912"/>
            <a:ext cx="841248" cy="84124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3602736" y="5212080"/>
            <a:ext cx="8412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3602736" y="4169664"/>
            <a:ext cx="841248" cy="841248"/>
          </a:xfrm>
          <a:prstGeom prst="rect">
            <a:avLst/>
          </a:prstGeom>
          <a:solidFill>
            <a:srgbClr val="F2C5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 txBox="1"/>
          <p:nvPr/>
        </p:nvSpPr>
        <p:spPr>
          <a:xfrm>
            <a:off x="3602736" y="4370832"/>
            <a:ext cx="8412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3602736" y="3328416"/>
            <a:ext cx="841248" cy="841248"/>
          </a:xfrm>
          <a:prstGeom prst="rect">
            <a:avLst/>
          </a:prstGeom>
          <a:solidFill>
            <a:srgbClr val="F2C5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 txBox="1"/>
          <p:nvPr/>
        </p:nvSpPr>
        <p:spPr>
          <a:xfrm>
            <a:off x="3602736" y="3529584"/>
            <a:ext cx="8412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H-03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H-06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H-07</a:t>
            </a:r>
            <a:endParaRPr/>
          </a:p>
        </p:txBody>
      </p:sp>
      <p:sp>
        <p:nvSpPr>
          <p:cNvPr id="235" name="Google Shape;235;p19"/>
          <p:cNvSpPr/>
          <p:nvPr/>
        </p:nvSpPr>
        <p:spPr>
          <a:xfrm>
            <a:off x="3602736" y="2487168"/>
            <a:ext cx="841248" cy="841248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 txBox="1"/>
          <p:nvPr/>
        </p:nvSpPr>
        <p:spPr>
          <a:xfrm>
            <a:off x="3602736" y="2688336"/>
            <a:ext cx="8412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3602736" y="1645920"/>
            <a:ext cx="841248" cy="841248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 txBox="1"/>
          <p:nvPr/>
        </p:nvSpPr>
        <p:spPr>
          <a:xfrm>
            <a:off x="3602736" y="1847088"/>
            <a:ext cx="8412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4443984" y="5010912"/>
            <a:ext cx="841248" cy="84124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 txBox="1"/>
          <p:nvPr/>
        </p:nvSpPr>
        <p:spPr>
          <a:xfrm>
            <a:off x="4443984" y="5212080"/>
            <a:ext cx="8412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4443984" y="4169664"/>
            <a:ext cx="841248" cy="841248"/>
          </a:xfrm>
          <a:prstGeom prst="rect">
            <a:avLst/>
          </a:prstGeom>
          <a:solidFill>
            <a:srgbClr val="F2C5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 txBox="1"/>
          <p:nvPr/>
        </p:nvSpPr>
        <p:spPr>
          <a:xfrm>
            <a:off x="4443984" y="4370832"/>
            <a:ext cx="8412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4443984" y="3328416"/>
            <a:ext cx="841248" cy="841248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 txBox="1"/>
          <p:nvPr/>
        </p:nvSpPr>
        <p:spPr>
          <a:xfrm>
            <a:off x="4443984" y="3529584"/>
            <a:ext cx="8412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4443984" y="2487168"/>
            <a:ext cx="841248" cy="841248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9"/>
          <p:cNvSpPr txBox="1"/>
          <p:nvPr/>
        </p:nvSpPr>
        <p:spPr>
          <a:xfrm>
            <a:off x="4443984" y="2688336"/>
            <a:ext cx="8412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H-02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H-04</a:t>
            </a: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4443984" y="1645920"/>
            <a:ext cx="841248" cy="8412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9"/>
          <p:cNvSpPr txBox="1"/>
          <p:nvPr/>
        </p:nvSpPr>
        <p:spPr>
          <a:xfrm>
            <a:off x="4443984" y="1847088"/>
            <a:ext cx="8412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5285232" y="5010912"/>
            <a:ext cx="841248" cy="841248"/>
          </a:xfrm>
          <a:prstGeom prst="rect">
            <a:avLst/>
          </a:prstGeom>
          <a:solidFill>
            <a:srgbClr val="F2C5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5285232" y="5212080"/>
            <a:ext cx="8412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5285232" y="4169664"/>
            <a:ext cx="841248" cy="841248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9"/>
          <p:cNvSpPr txBox="1"/>
          <p:nvPr/>
        </p:nvSpPr>
        <p:spPr>
          <a:xfrm>
            <a:off x="5285232" y="4370832"/>
            <a:ext cx="8412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5285232" y="3328416"/>
            <a:ext cx="841248" cy="841248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9"/>
          <p:cNvSpPr txBox="1"/>
          <p:nvPr/>
        </p:nvSpPr>
        <p:spPr>
          <a:xfrm>
            <a:off x="5285232" y="3529584"/>
            <a:ext cx="8412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5285232" y="2487168"/>
            <a:ext cx="841248" cy="8412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 txBox="1"/>
          <p:nvPr/>
        </p:nvSpPr>
        <p:spPr>
          <a:xfrm>
            <a:off x="5285232" y="2688336"/>
            <a:ext cx="8412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H-05</a:t>
            </a:r>
            <a:endParaRPr/>
          </a:p>
        </p:txBody>
      </p:sp>
      <p:sp>
        <p:nvSpPr>
          <p:cNvPr id="257" name="Google Shape;257;p19"/>
          <p:cNvSpPr/>
          <p:nvPr/>
        </p:nvSpPr>
        <p:spPr>
          <a:xfrm>
            <a:off x="5285232" y="1645920"/>
            <a:ext cx="841248" cy="8412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9"/>
          <p:cNvSpPr txBox="1"/>
          <p:nvPr/>
        </p:nvSpPr>
        <p:spPr>
          <a:xfrm>
            <a:off x="5285232" y="1847088"/>
            <a:ext cx="8412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H-01</a:t>
            </a:r>
            <a:endParaRPr/>
          </a:p>
        </p:txBody>
      </p:sp>
      <p:sp>
        <p:nvSpPr>
          <p:cNvPr id="259" name="Google Shape;259;p19"/>
          <p:cNvSpPr txBox="1"/>
          <p:nvPr/>
        </p:nvSpPr>
        <p:spPr>
          <a:xfrm>
            <a:off x="1417320" y="190195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60" name="Google Shape;260;p19"/>
          <p:cNvSpPr txBox="1"/>
          <p:nvPr/>
        </p:nvSpPr>
        <p:spPr>
          <a:xfrm>
            <a:off x="1417320" y="274320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61" name="Google Shape;261;p19"/>
          <p:cNvSpPr txBox="1"/>
          <p:nvPr/>
        </p:nvSpPr>
        <p:spPr>
          <a:xfrm>
            <a:off x="1417320" y="358444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62" name="Google Shape;262;p19"/>
          <p:cNvSpPr txBox="1"/>
          <p:nvPr/>
        </p:nvSpPr>
        <p:spPr>
          <a:xfrm>
            <a:off x="1417320" y="4425696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63" name="Google Shape;263;p19"/>
          <p:cNvSpPr txBox="1"/>
          <p:nvPr/>
        </p:nvSpPr>
        <p:spPr>
          <a:xfrm>
            <a:off x="1417320" y="5266944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4" name="Google Shape;264;p19"/>
          <p:cNvSpPr txBox="1"/>
          <p:nvPr/>
        </p:nvSpPr>
        <p:spPr>
          <a:xfrm>
            <a:off x="1920240" y="5897880"/>
            <a:ext cx="8412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5" name="Google Shape;265;p19"/>
          <p:cNvSpPr txBox="1"/>
          <p:nvPr/>
        </p:nvSpPr>
        <p:spPr>
          <a:xfrm>
            <a:off x="2761488" y="5897880"/>
            <a:ext cx="8412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66" name="Google Shape;266;p19"/>
          <p:cNvSpPr txBox="1"/>
          <p:nvPr/>
        </p:nvSpPr>
        <p:spPr>
          <a:xfrm>
            <a:off x="3602736" y="5897880"/>
            <a:ext cx="8412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67" name="Google Shape;267;p19"/>
          <p:cNvSpPr txBox="1"/>
          <p:nvPr/>
        </p:nvSpPr>
        <p:spPr>
          <a:xfrm>
            <a:off x="4443984" y="5897880"/>
            <a:ext cx="8412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68" name="Google Shape;268;p19"/>
          <p:cNvSpPr txBox="1"/>
          <p:nvPr/>
        </p:nvSpPr>
        <p:spPr>
          <a:xfrm>
            <a:off x="5285232" y="5897880"/>
            <a:ext cx="8412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69" name="Google Shape;269;p19"/>
          <p:cNvSpPr txBox="1"/>
          <p:nvPr/>
        </p:nvSpPr>
        <p:spPr>
          <a:xfrm>
            <a:off x="502920" y="11430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Prob.</a:t>
            </a:r>
            <a:endParaRPr/>
          </a:p>
        </p:txBody>
      </p:sp>
      <p:sp>
        <p:nvSpPr>
          <p:cNvPr id="270" name="Google Shape;270;p19"/>
          <p:cNvSpPr txBox="1"/>
          <p:nvPr/>
        </p:nvSpPr>
        <p:spPr>
          <a:xfrm>
            <a:off x="1920240" y="603504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Impacto</a:t>
            </a:r>
            <a:endParaRPr/>
          </a:p>
        </p:txBody>
      </p:sp>
      <p:sp>
        <p:nvSpPr>
          <p:cNvPr id="271" name="Google Shape;271;p19"/>
          <p:cNvSpPr/>
          <p:nvPr/>
        </p:nvSpPr>
        <p:spPr>
          <a:xfrm>
            <a:off x="7315200" y="1645920"/>
            <a:ext cx="4297680" cy="40233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9"/>
          <p:cNvSpPr txBox="1"/>
          <p:nvPr/>
        </p:nvSpPr>
        <p:spPr>
          <a:xfrm>
            <a:off x="7543800" y="1828800"/>
            <a:ext cx="3840480" cy="3749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Lectura ejecutiva: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▪ Zona roja (≥17): H-01 y H-05 — riesgo crítico, requieren acción inmediata.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▪ Zona naranja (10–16): H-02 y H-04 — corrección prioritaria este mes.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▪ Zona amarilla (5–9): H-03, H-06 y H-07 — incluir en plan de hardening.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La probabilidad de explotación es ALTA porque los vectores son triviales y los exploits son públicos.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Recomendaciones Estratégicas</a:t>
            </a:r>
            <a:endParaRPr/>
          </a:p>
        </p:txBody>
      </p:sp>
      <p:sp>
        <p:nvSpPr>
          <p:cNvPr id="279" name="Google Shape;279;p20"/>
          <p:cNvSpPr txBox="1"/>
          <p:nvPr/>
        </p:nvSpPr>
        <p:spPr>
          <a:xfrm>
            <a:off x="11155680" y="22860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80" name="Google Shape;280;p20"/>
          <p:cNvSpPr txBox="1"/>
          <p:nvPr/>
        </p:nvSpPr>
        <p:spPr>
          <a:xfrm>
            <a:off x="457200" y="6473952"/>
            <a:ext cx="11338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CONFIDENCIAL — Pruebas de Penetración My File Server: 1</a:t>
            </a:r>
            <a:endParaRPr/>
          </a:p>
        </p:txBody>
      </p:sp>
      <p:sp>
        <p:nvSpPr>
          <p:cNvPr id="281" name="Google Shape;281;p20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Acciones que eliminan la raíz del problema</a:t>
            </a:r>
            <a:endParaRPr/>
          </a:p>
        </p:txBody>
      </p:sp>
      <p:sp>
        <p:nvSpPr>
          <p:cNvPr id="282" name="Google Shape;282;p20"/>
          <p:cNvSpPr/>
          <p:nvPr/>
        </p:nvSpPr>
        <p:spPr>
          <a:xfrm>
            <a:off x="548640" y="1691640"/>
            <a:ext cx="5303520" cy="187451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685800" y="1764792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3B63"/>
                </a:solidFill>
                <a:latin typeface="Calibri"/>
                <a:ea typeface="Calibri"/>
                <a:cs typeface="Calibri"/>
                <a:sym typeface="Calibri"/>
              </a:rPr>
              <a:t>1 · Parchear el sistema operativo</a:t>
            </a:r>
            <a:endParaRPr/>
          </a:p>
        </p:txBody>
      </p:sp>
      <p:sp>
        <p:nvSpPr>
          <p:cNvPr id="284" name="Google Shape;284;p20"/>
          <p:cNvSpPr txBox="1"/>
          <p:nvPr/>
        </p:nvSpPr>
        <p:spPr>
          <a:xfrm>
            <a:off x="685800" y="2258568"/>
            <a:ext cx="5029200" cy="1216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Cerrar la vulnerabilidad de escalada de privilegios y establecer parcheo continuo.</a:t>
            </a:r>
            <a:endParaRPr/>
          </a:p>
        </p:txBody>
      </p:sp>
      <p:sp>
        <p:nvSpPr>
          <p:cNvPr id="285" name="Google Shape;285;p20"/>
          <p:cNvSpPr/>
          <p:nvPr/>
        </p:nvSpPr>
        <p:spPr>
          <a:xfrm>
            <a:off x="6309360" y="1691640"/>
            <a:ext cx="5303520" cy="187451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0"/>
          <p:cNvSpPr txBox="1"/>
          <p:nvPr/>
        </p:nvSpPr>
        <p:spPr>
          <a:xfrm>
            <a:off x="6446520" y="1764792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3B63"/>
                </a:solidFill>
                <a:latin typeface="Calibri"/>
                <a:ea typeface="Calibri"/>
                <a:cs typeface="Calibri"/>
                <a:sym typeface="Calibri"/>
              </a:rPr>
              <a:t>2 · Eliminar credenciales expuestas</a:t>
            </a:r>
            <a:endParaRPr/>
          </a:p>
        </p:txBody>
      </p:sp>
      <p:sp>
        <p:nvSpPr>
          <p:cNvPr id="287" name="Google Shape;287;p20"/>
          <p:cNvSpPr txBox="1"/>
          <p:nvPr/>
        </p:nvSpPr>
        <p:spPr>
          <a:xfrm>
            <a:off x="6446520" y="2258568"/>
            <a:ext cx="5029200" cy="1216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Retirar secretos de páginas y archivos públicos; adoptar un gestor de contraseñas corporativo.</a:t>
            </a:r>
            <a:endParaRPr/>
          </a:p>
        </p:txBody>
      </p:sp>
      <p:sp>
        <p:nvSpPr>
          <p:cNvPr id="288" name="Google Shape;288;p20"/>
          <p:cNvSpPr/>
          <p:nvPr/>
        </p:nvSpPr>
        <p:spPr>
          <a:xfrm>
            <a:off x="548640" y="3794760"/>
            <a:ext cx="5303520" cy="187451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0"/>
          <p:cNvSpPr txBox="1"/>
          <p:nvPr/>
        </p:nvSpPr>
        <p:spPr>
          <a:xfrm>
            <a:off x="685800" y="3867912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3B63"/>
                </a:solidFill>
                <a:latin typeface="Calibri"/>
                <a:ea typeface="Calibri"/>
                <a:cs typeface="Calibri"/>
                <a:sym typeface="Calibri"/>
              </a:rPr>
              <a:t>3 · Cerrar el acceso anónimo</a:t>
            </a:r>
            <a:endParaRPr/>
          </a:p>
        </p:txBody>
      </p:sp>
      <p:sp>
        <p:nvSpPr>
          <p:cNvPr id="290" name="Google Shape;290;p20"/>
          <p:cNvSpPr txBox="1"/>
          <p:nvPr/>
        </p:nvSpPr>
        <p:spPr>
          <a:xfrm>
            <a:off x="685800" y="4361688"/>
            <a:ext cx="5029200" cy="1216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Deshabilitar FTP/SMB sin autenticación y cualquier permiso de escritura público.</a:t>
            </a:r>
            <a:endParaRPr/>
          </a:p>
        </p:txBody>
      </p:sp>
      <p:sp>
        <p:nvSpPr>
          <p:cNvPr id="291" name="Google Shape;291;p20"/>
          <p:cNvSpPr/>
          <p:nvPr/>
        </p:nvSpPr>
        <p:spPr>
          <a:xfrm>
            <a:off x="6309360" y="3794760"/>
            <a:ext cx="5303520" cy="1874519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0"/>
          <p:cNvSpPr txBox="1"/>
          <p:nvPr/>
        </p:nvSpPr>
        <p:spPr>
          <a:xfrm>
            <a:off x="6446520" y="3867912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3B63"/>
                </a:solidFill>
                <a:latin typeface="Calibri"/>
                <a:ea typeface="Calibri"/>
                <a:cs typeface="Calibri"/>
                <a:sym typeface="Calibri"/>
              </a:rPr>
              <a:t>4 · Segmentar y monitorear</a:t>
            </a:r>
            <a:endParaRPr/>
          </a:p>
        </p:txBody>
      </p:sp>
      <p:sp>
        <p:nvSpPr>
          <p:cNvPr id="293" name="Google Shape;293;p20"/>
          <p:cNvSpPr txBox="1"/>
          <p:nvPr/>
        </p:nvSpPr>
        <p:spPr>
          <a:xfrm>
            <a:off x="6446520" y="4361688"/>
            <a:ext cx="5029200" cy="1216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Aislar el servidor en una red dedicada con firewall, registro de accesos y alertas.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Roadmap de Remediación</a:t>
            </a:r>
            <a:endParaRPr/>
          </a:p>
        </p:txBody>
      </p:sp>
      <p:sp>
        <p:nvSpPr>
          <p:cNvPr id="300" name="Google Shape;300;p21"/>
          <p:cNvSpPr txBox="1"/>
          <p:nvPr/>
        </p:nvSpPr>
        <p:spPr>
          <a:xfrm>
            <a:off x="11155680" y="22860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01" name="Google Shape;301;p21"/>
          <p:cNvSpPr txBox="1"/>
          <p:nvPr/>
        </p:nvSpPr>
        <p:spPr>
          <a:xfrm>
            <a:off x="457200" y="6473952"/>
            <a:ext cx="11338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CONFIDENCIAL — Pruebas de Penetración My File Server: 1</a:t>
            </a:r>
            <a:endParaRPr/>
          </a:p>
        </p:txBody>
      </p:sp>
      <p:sp>
        <p:nvSpPr>
          <p:cNvPr id="302" name="Google Shape;302;p21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Plan de acción de 30-60-90 días</a:t>
            </a:r>
            <a:endParaRPr/>
          </a:p>
        </p:txBody>
      </p:sp>
      <p:sp>
        <p:nvSpPr>
          <p:cNvPr id="303" name="Google Shape;303;p21"/>
          <p:cNvSpPr/>
          <p:nvPr/>
        </p:nvSpPr>
        <p:spPr>
          <a:xfrm>
            <a:off x="548640" y="1737360"/>
            <a:ext cx="3611880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640080" y="182880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DÍAS 0–10 · Contención</a:t>
            </a:r>
            <a:endParaRPr/>
          </a:p>
        </p:txBody>
      </p:sp>
      <p:sp>
        <p:nvSpPr>
          <p:cNvPr id="305" name="Google Shape;305;p21"/>
          <p:cNvSpPr/>
          <p:nvPr/>
        </p:nvSpPr>
        <p:spPr>
          <a:xfrm>
            <a:off x="548640" y="2331720"/>
            <a:ext cx="3611880" cy="2651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685800" y="2514600"/>
            <a:ext cx="33375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▪ Aislar el servidor de la red de producción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▪ Aplicar parche del kernel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▪ Eliminar readme.txt y rotar credenciales</a:t>
            </a:r>
            <a:endParaRPr/>
          </a:p>
        </p:txBody>
      </p:sp>
      <p:sp>
        <p:nvSpPr>
          <p:cNvPr id="307" name="Google Shape;307;p21"/>
          <p:cNvSpPr/>
          <p:nvPr/>
        </p:nvSpPr>
        <p:spPr>
          <a:xfrm>
            <a:off x="4297679" y="1737360"/>
            <a:ext cx="3611880" cy="594360"/>
          </a:xfrm>
          <a:prstGeom prst="rect">
            <a:avLst/>
          </a:prstGeom>
          <a:solidFill>
            <a:srgbClr val="E87D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4389119" y="182880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DÍAS 11–30 · Corrección</a:t>
            </a:r>
            <a:endParaRPr/>
          </a:p>
        </p:txBody>
      </p:sp>
      <p:sp>
        <p:nvSpPr>
          <p:cNvPr id="309" name="Google Shape;309;p21"/>
          <p:cNvSpPr/>
          <p:nvPr/>
        </p:nvSpPr>
        <p:spPr>
          <a:xfrm>
            <a:off x="4297679" y="2331720"/>
            <a:ext cx="3611880" cy="2651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4434839" y="2514600"/>
            <a:ext cx="33375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▪ Deshabilitar acceso anónimo FTP/SMB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▪ Restringir NFS y aplicar firewall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▪ Auditar y limpiar claves SSH</a:t>
            </a:r>
            <a:endParaRPr/>
          </a:p>
        </p:txBody>
      </p:sp>
      <p:sp>
        <p:nvSpPr>
          <p:cNvPr id="311" name="Google Shape;311;p21"/>
          <p:cNvSpPr/>
          <p:nvPr/>
        </p:nvSpPr>
        <p:spPr>
          <a:xfrm>
            <a:off x="8046718" y="1737360"/>
            <a:ext cx="3611880" cy="5943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8138158" y="182880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DÍAS 31–90 · Fortalecimiento</a:t>
            </a:r>
            <a:endParaRPr/>
          </a:p>
        </p:txBody>
      </p:sp>
      <p:sp>
        <p:nvSpPr>
          <p:cNvPr id="313" name="Google Shape;313;p21"/>
          <p:cNvSpPr/>
          <p:nvPr/>
        </p:nvSpPr>
        <p:spPr>
          <a:xfrm>
            <a:off x="8046718" y="2331720"/>
            <a:ext cx="3611880" cy="2651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1"/>
          <p:cNvSpPr txBox="1"/>
          <p:nvPr/>
        </p:nvSpPr>
        <p:spPr>
          <a:xfrm>
            <a:off x="8183878" y="2514600"/>
            <a:ext cx="33375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▪ Actualizar Apache y hardening del SO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▪ Segmentación de red y monitoreo/IDS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▪ Política de gestión de parches y secretos</a:t>
            </a:r>
            <a:endParaRPr/>
          </a:p>
        </p:txBody>
      </p:sp>
      <p:sp>
        <p:nvSpPr>
          <p:cNvPr id="315" name="Google Shape;315;p21"/>
          <p:cNvSpPr txBox="1"/>
          <p:nvPr/>
        </p:nvSpPr>
        <p:spPr>
          <a:xfrm>
            <a:off x="548640" y="5349240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3B63"/>
                </a:solidFill>
                <a:latin typeface="Calibri"/>
                <a:ea typeface="Calibri"/>
                <a:cs typeface="Calibri"/>
                <a:sym typeface="Calibri"/>
              </a:rPr>
              <a:t>Resultado esperado: reducción del riesgo de CRÍTICO a BAJO en 90 días, con re-test de validación incluido.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2"/>
          <p:cNvSpPr txBox="1"/>
          <p:nvPr/>
        </p:nvSpPr>
        <p:spPr>
          <a:xfrm>
            <a:off x="731520" y="12801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Conclusión Ejecutiva</a:t>
            </a:r>
            <a:endParaRPr/>
          </a:p>
        </p:txBody>
      </p:sp>
      <p:sp>
        <p:nvSpPr>
          <p:cNvPr id="323" name="Google Shape;323;p22"/>
          <p:cNvSpPr txBox="1"/>
          <p:nvPr/>
        </p:nvSpPr>
        <p:spPr>
          <a:xfrm>
            <a:off x="731520" y="2103120"/>
            <a:ext cx="72237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6ECF4"/>
                </a:solidFill>
                <a:latin typeface="Calibri"/>
                <a:ea typeface="Calibri"/>
                <a:cs typeface="Calibri"/>
                <a:sym typeface="Calibri"/>
              </a:rPr>
              <a:t>El servidor de archivos fue comprometido por completo con técnicas de baja complejidad y herramientas públicas.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E6EC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6ECF4"/>
                </a:solidFill>
                <a:latin typeface="Calibri"/>
                <a:ea typeface="Calibri"/>
                <a:cs typeface="Calibri"/>
                <a:sym typeface="Calibri"/>
              </a:rPr>
              <a:t>La buena noticia: todas las vulnerabilidades tienen solución conocida, documentada y de bajo costo relativo.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E6EC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6ECF4"/>
                </a:solidFill>
                <a:latin typeface="Calibri"/>
                <a:ea typeface="Calibri"/>
                <a:cs typeface="Calibri"/>
                <a:sym typeface="Calibri"/>
              </a:rPr>
              <a:t>Con el plan de 30-60-90 días, la organización puede pasar de una exposición crítica a un nivel de riesgo bajo y demostrable.</a:t>
            </a:r>
            <a:endParaRPr/>
          </a:p>
        </p:txBody>
      </p:sp>
      <p:sp>
        <p:nvSpPr>
          <p:cNvPr id="324" name="Google Shape;324;p22"/>
          <p:cNvSpPr txBox="1"/>
          <p:nvPr/>
        </p:nvSpPr>
        <p:spPr>
          <a:xfrm>
            <a:off x="731520" y="539496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Recomendación: aprobar el roadmap de remediación y programar el re-test de validación.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Gracias — Quedo a disposición del Consejo</a:t>
            </a:r>
            <a:endParaRPr/>
          </a:p>
        </p:txBody>
      </p:sp>
      <p:pic>
        <p:nvPicPr>
          <p:cNvPr descr="cap_21_pag11.png" id="325" name="Google Shape;3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3920" y="2194560"/>
            <a:ext cx="3108960" cy="2433872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2"/>
          <p:cNvSpPr txBox="1"/>
          <p:nvPr/>
        </p:nvSpPr>
        <p:spPr>
          <a:xfrm>
            <a:off x="8503920" y="507492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FCDE0"/>
                </a:solidFill>
                <a:latin typeface="Calibri"/>
                <a:ea typeface="Calibri"/>
                <a:cs typeface="Calibri"/>
                <a:sym typeface="Calibri"/>
              </a:rPr>
              <a:t>Evidencia: control total obtenido (root)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